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</p:sldIdLst>
  <p:sldSz cx="6858000" cy="9906000" type="A4"/>
  <p:notesSz cx="6735445" cy="986599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100"/>
    <a:srgbClr val="F7F7F7"/>
    <a:srgbClr val="EFEFEF"/>
    <a:srgbClr val="EF8423"/>
    <a:srgbClr val="6C6A67"/>
    <a:srgbClr val="FBF9F7"/>
    <a:srgbClr val="B6A190"/>
    <a:srgbClr val="FCFBFA"/>
    <a:srgbClr val="F9F7F5"/>
    <a:srgbClr val="F4F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3311" autoAdjust="0"/>
    <p:restoredTop sz="96318" autoAdjust="0"/>
  </p:normalViewPr>
  <p:slideViewPr>
    <p:cSldViewPr snapToGrid="0">
      <p:cViewPr varScale="1">
        <p:scale>
          <a:sx n="57" d="100"/>
          <a:sy n="57" d="100"/>
        </p:scale>
        <p:origin x="312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6858000" cy="956525"/>
          </a:xfrm>
          <a:prstGeom prst="rect">
            <a:avLst/>
          </a:prstGeom>
          <a:solidFill>
            <a:srgbClr val="F4F0EB"/>
          </a:solidFill>
          <a:ln>
            <a:solidFill>
              <a:srgbClr val="F4F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9361" y="201639"/>
            <a:ext cx="4196983" cy="767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</a:rPr>
              <a:t>AI Weekly Report</a:t>
            </a:r>
            <a:endParaRPr lang="ko-KR" altLang="en-US" sz="3200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" y="-194524"/>
            <a:ext cx="1886153" cy="115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12" tIns="45720" rIns="914112" bIns="914112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???? EL"/>
              </a:rPr>
              <a:t> 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1" t="25250" r="21134" b="20882"/>
          <a:stretch>
            <a:fillRect/>
          </a:stretch>
        </p:blipFill>
        <p:spPr bwMode="auto">
          <a:xfrm>
            <a:off x="8165" y="20025"/>
            <a:ext cx="1161044" cy="31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00884" y="46513"/>
            <a:ext cx="19207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100" u="none">
                <a:solidFill>
                  <a:srgbClr val="6C6A67"/>
                </a:solidFill>
                <a:latin typeface="한화고딕 L"/>
              </a:rPr>
              <a:t>제14호 | 2025년 12월 31일</a:t>
            </a:r>
            <a:endParaRPr lang="ko-KR" altLang="en-US" sz="1100" dirty="0">
              <a:solidFill>
                <a:srgbClr val="6C6A67"/>
              </a:solidFill>
              <a:latin typeface="한화고딕 L" panose="02020503020101020101" pitchFamily="18" charset="-127"/>
              <a:ea typeface="한화고딕 L" panose="02020503020101020101" pitchFamily="18" charset="-127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4" t="10194" r="-2978"/>
          <a:stretch>
            <a:fillRect/>
          </a:stretch>
        </p:blipFill>
        <p:spPr bwMode="auto">
          <a:xfrm rot="1455314">
            <a:off x="4326398" y="457296"/>
            <a:ext cx="365675" cy="45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9" t="20606" r="28476" b="8486"/>
          <a:stretch>
            <a:fillRect/>
          </a:stretch>
        </p:blipFill>
        <p:spPr bwMode="auto">
          <a:xfrm rot="461266">
            <a:off x="6197256" y="52682"/>
            <a:ext cx="495329" cy="534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51" t="15797" r="4687" b="22920"/>
          <a:stretch>
            <a:fillRect/>
          </a:stretch>
        </p:blipFill>
        <p:spPr bwMode="auto">
          <a:xfrm>
            <a:off x="4874017" y="103061"/>
            <a:ext cx="783099" cy="51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2" t="24030" r="9407" b="3699"/>
          <a:stretch>
            <a:fillRect/>
          </a:stretch>
        </p:blipFill>
        <p:spPr bwMode="auto">
          <a:xfrm>
            <a:off x="5621861" y="389477"/>
            <a:ext cx="581173" cy="567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Google Shape;201;g375bbbb1663_0_21"/>
          <p:cNvSpPr/>
          <p:nvPr/>
        </p:nvSpPr>
        <p:spPr>
          <a:xfrm>
            <a:off x="100674" y="6883799"/>
            <a:ext cx="6668280" cy="14340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bg2">
                  <a:lumMod val="9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Google Shape;202;g375bbbb1663_0_21"/>
          <p:cNvSpPr/>
          <p:nvPr/>
        </p:nvSpPr>
        <p:spPr>
          <a:xfrm>
            <a:off x="100674" y="6634665"/>
            <a:ext cx="1867451" cy="243157"/>
          </a:xfrm>
          <a:prstGeom prst="round2SameRect">
            <a:avLst>
              <a:gd name="adj1" fmla="val 17990"/>
              <a:gd name="adj2" fmla="val 0"/>
            </a:avLst>
          </a:prstGeom>
          <a:solidFill>
            <a:srgbClr val="EFEFEF"/>
          </a:solidFill>
          <a:ln>
            <a:solidFill>
              <a:srgbClr val="EFEFEF"/>
            </a:solidFill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 panose="02020603050405020304"/>
                <a:sym typeface="Times New Roman" panose="02020603050405020304"/>
              </a:rPr>
              <a:t>AI</a:t>
            </a:r>
            <a:r>
              <a:rPr lang="ko-KR" alt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ko-KR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 panose="02020603050405020304"/>
                <a:sym typeface="Times New Roman" panose="02020603050405020304"/>
              </a:rPr>
              <a:t>Lab</a:t>
            </a:r>
            <a:endParaRPr sz="1600" i="0" u="none" strike="noStrike" cap="none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" name="Google Shape;201;g375bbbb1663_0_21"/>
          <p:cNvSpPr/>
          <p:nvPr/>
        </p:nvSpPr>
        <p:spPr>
          <a:xfrm>
            <a:off x="100965" y="8661400"/>
            <a:ext cx="6668135" cy="113855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bg2">
                  <a:lumMod val="9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Google Shape;202;g375bbbb1663_0_21"/>
          <p:cNvSpPr/>
          <p:nvPr/>
        </p:nvSpPr>
        <p:spPr>
          <a:xfrm>
            <a:off x="100674" y="8412157"/>
            <a:ext cx="1867451" cy="243157"/>
          </a:xfrm>
          <a:prstGeom prst="round2SameRect">
            <a:avLst>
              <a:gd name="adj1" fmla="val 17990"/>
              <a:gd name="adj2" fmla="val 0"/>
            </a:avLst>
          </a:prstGeom>
          <a:solidFill>
            <a:srgbClr val="EFEFEF"/>
          </a:solidFill>
          <a:ln>
            <a:solidFill>
              <a:srgbClr val="EFEFEF"/>
            </a:solidFill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 panose="02020603050405020304"/>
                <a:sym typeface="Times New Roman" panose="02020603050405020304"/>
              </a:rPr>
              <a:t>HAC</a:t>
            </a:r>
            <a:endParaRPr sz="1600" i="0" u="none" strike="noStrike" cap="none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Google Shape;201;g375bbbb1663_0_21"/>
          <p:cNvSpPr/>
          <p:nvPr/>
        </p:nvSpPr>
        <p:spPr>
          <a:xfrm>
            <a:off x="94615" y="1311910"/>
            <a:ext cx="6668135" cy="521144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bg2">
                  <a:lumMod val="9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Google Shape;202;g375bbbb1663_0_21"/>
          <p:cNvSpPr/>
          <p:nvPr/>
        </p:nvSpPr>
        <p:spPr>
          <a:xfrm>
            <a:off x="94860" y="1062852"/>
            <a:ext cx="1867451" cy="243157"/>
          </a:xfrm>
          <a:prstGeom prst="round2SameRect">
            <a:avLst>
              <a:gd name="adj1" fmla="val 17990"/>
              <a:gd name="adj2" fmla="val 0"/>
            </a:avLst>
          </a:prstGeom>
          <a:solidFill>
            <a:srgbClr val="EFEFEF"/>
          </a:solidFill>
          <a:ln>
            <a:solidFill>
              <a:srgbClr val="EFEFEF"/>
            </a:solidFill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ko-KR" alt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 panose="02020603050405020304"/>
                <a:sym typeface="Times New Roman" panose="02020603050405020304"/>
              </a:rPr>
              <a:t>국내외 </a:t>
            </a:r>
            <a:r>
              <a:rPr lang="en-US" altLang="ko-KR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 panose="02020603050405020304"/>
                <a:sym typeface="Times New Roman" panose="02020603050405020304"/>
              </a:rPr>
              <a:t>AI </a:t>
            </a:r>
            <a:r>
              <a:rPr lang="ko-KR" alt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 panose="02020603050405020304"/>
                <a:sym typeface="Times New Roman" panose="02020603050405020304"/>
              </a:rPr>
              <a:t>동향</a:t>
            </a:r>
            <a:endParaRPr sz="1600" i="0" u="none" strike="noStrike" cap="none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143510" y="1325589"/>
            <a:ext cx="6668280" cy="312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200" u="none">
                <a:latin typeface="한화고딕 B"/>
              </a:rPr>
              <a:t>우리은행 생성형 AI 기반 비대면 대출 원스톱 상담 서비스 고도화</a:t>
            </a:r>
            <a:endParaRPr lang="en-US" altLang="ko-KR" sz="1200" u="sng" dirty="0">
              <a:solidFill>
                <a:prstClr val="black"/>
              </a:solidFill>
              <a:latin typeface="한화고딕 B" panose="02020503020101020101" pitchFamily="18" charset="-127"/>
              <a:ea typeface="한화고딕 B" panose="02020503020101020101" pitchFamily="18" charset="-127"/>
              <a:sym typeface="Wingdings" panose="05000000000000000000" pitchFamily="2" charset="2"/>
            </a:endParaRPr>
          </a:p>
          <a:p>
            <a:r>
              <a:rPr sz="1200" u="none">
                <a:latin typeface="한화고딕 EL"/>
              </a:rPr>
              <a:t>• 우리은행이 비대면 전 대출 상품에 적용되는 개인화 원스톱 AI대출상담원 서비스를 개편함</a:t>
            </a:r>
          </a:p>
          <a:p>
            <a:r>
              <a:rPr sz="1200" u="none">
                <a:latin typeface="한화고딕 EL"/>
              </a:rPr>
              <a:t>• 생성형 AI가 상담 흐름을 주도하며 과거 상담 이력을 기억해 연속 대화와 맞춤형 안내를 제공함</a:t>
            </a:r>
          </a:p>
          <a:p>
            <a:r>
              <a:rPr sz="1200" u="sng">
                <a:latin typeface="한화고딕 B"/>
              </a:rPr>
              <a:t>➔ 당사도 생성형 AI 상담원을 도입해 언더라이팅 전 단계 고객 질의응답과 상품 추천을 자동화할 수 있음</a:t>
            </a:r>
          </a:p>
          <a:p>
            <a:r>
              <a:rPr sz="900" u="none">
                <a:latin typeface="한화고딕 EL"/>
              </a:rPr>
              <a:t> </a:t>
            </a:r>
          </a:p>
          <a:p>
            <a:r>
              <a:rPr sz="1200" u="none">
                <a:latin typeface="한화고딕 B"/>
              </a:rPr>
              <a:t>DB손해보험·유베이스 다국어 통역 AI 에이전트 완전판매 모니터링 서비스 구축</a:t>
            </a:r>
          </a:p>
          <a:p>
            <a:r>
              <a:rPr sz="1200" u="none">
                <a:latin typeface="한화고딕 EL"/>
              </a:rPr>
              <a:t>• 외국인 전용 다국어 통역 AI 에이전트로 해피콜 전 과정 실시간 통역 지원해 불완전판매 위험 최소화함</a:t>
            </a:r>
          </a:p>
          <a:p>
            <a:r>
              <a:rPr sz="1200" u="none">
                <a:latin typeface="한화고딕 EL"/>
              </a:rPr>
              <a:t>• AI 기반 실시간 다국어 통역 구조로 외부 통역 없이 상담 대기시간 단축 및 통역 품질 편차 감소 효과 있음</a:t>
            </a:r>
          </a:p>
          <a:p>
            <a:r>
              <a:rPr sz="1200" u="sng">
                <a:latin typeface="한화고딕 B"/>
              </a:rPr>
              <a:t>➔ 당사도 다국어 AI 통역 모니터링을 도입해 외국인 고객 언더라이팅·해피콜 품질 관리 및 민원 리스크를 경감할 수 있음</a:t>
            </a:r>
          </a:p>
          <a:p>
            <a:r>
              <a:rPr sz="900" u="none">
                <a:latin typeface="한화고딕 EL"/>
              </a:rPr>
              <a:t> </a:t>
            </a:r>
          </a:p>
          <a:p>
            <a:r>
              <a:rPr sz="1200" u="none">
                <a:latin typeface="한화고딕 B"/>
              </a:rPr>
              <a:t>하나은행 생성형 AI 기반 기업 여신 심사 시스템 도입 및 업무 효율화 추진</a:t>
            </a:r>
          </a:p>
          <a:p>
            <a:r>
              <a:rPr sz="1200" u="none">
                <a:latin typeface="한화고딕 EL"/>
              </a:rPr>
              <a:t>• 하나은행이 생성형 AI로 기업 여신 심사 의견 초안을 자동 작성해 심사 업무량을 약 30% 경감하는 시스템을 도입함</a:t>
            </a:r>
          </a:p>
          <a:p>
            <a:r>
              <a:rPr sz="1200" u="none">
                <a:latin typeface="한화고딕 EL"/>
              </a:rPr>
              <a:t>• 사업·감사보고서와 재무제표, 내외부 데이터 및 산업 현황을 생성형 AI로 종합 분석해 여신 심사 초안을 생성하는 기술 적용임</a:t>
            </a:r>
          </a:p>
          <a:p>
            <a:r>
              <a:rPr sz="1200" u="sng">
                <a:latin typeface="한화고딕 B"/>
              </a:rPr>
              <a:t>➔ 당사는 기업대출 심사에 생성형 AI를 도입해 재무·산업 정보 기반 심사 초안을 자동화하고 언더라이팅 생산성을 제고할 수 있음</a:t>
            </a:r>
          </a:p>
          <a:p>
            <a:r>
              <a:rPr sz="900" u="none">
                <a:latin typeface="한화고딕 EL"/>
              </a:rPr>
              <a:t> </a:t>
            </a:r>
          </a:p>
          <a:p>
            <a:r>
              <a:rPr sz="1200" u="none">
                <a:latin typeface="한화고딕 B"/>
              </a:rPr>
              <a:t>인터넷전문은행 생성형 AI 기반 고객응대·내부업무 고도화 동향</a:t>
            </a:r>
          </a:p>
          <a:p>
            <a:r>
              <a:rPr sz="1200" u="none">
                <a:latin typeface="한화고딕 EL"/>
              </a:rPr>
              <a:t>• 카카오뱅크·토스뱅크·케이뱅크가 통합 상담, 모임총무, 내부업무 지원 등 AI 기반 서비스 고도화 중임</a:t>
            </a:r>
          </a:p>
          <a:p>
            <a:r>
              <a:rPr sz="1200" u="none">
                <a:latin typeface="한화고딕 EL"/>
              </a:rPr>
              <a:t>• LLM 라우터, 프라이빗 금융 특화 LLM, AWS Bedrock 기반 생성형 AI로 상담 정확도·보안·업무 생산성 제고 중임</a:t>
            </a:r>
          </a:p>
          <a:p>
            <a:r>
              <a:rPr sz="1200" u="sng">
                <a:latin typeface="한화고딕 B"/>
              </a:rPr>
              <a:t>➔ 당사도 프라이빗 LLM 기반 상담·내부지원 챗봇을 도입해 언더라이팅·보상 문의 자동응대와 직원 업무 효율화 추진 가능함</a:t>
            </a:r>
          </a:p>
          <a:p>
            <a:r>
              <a:rPr sz="900" u="none">
                <a:latin typeface="한화고딕 EL"/>
              </a:rPr>
              <a:t> </a:t>
            </a:r>
          </a:p>
        </p:txBody>
      </p:sp>
      <p:sp>
        <p:nvSpPr>
          <p:cNvPr id="14" name="TextBox 2"/>
          <p:cNvSpPr txBox="1"/>
          <p:nvPr/>
        </p:nvSpPr>
        <p:spPr>
          <a:xfrm>
            <a:off x="152400" y="6893904"/>
            <a:ext cx="6668280" cy="312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200" u="none">
                <a:latin typeface="한화고딕 B"/>
              </a:rPr>
              <a:t>클라우드 기반 OCR 도입 및 Azure 혼합사용 검토</a:t>
            </a:r>
            <a:endParaRPr lang="en-US" altLang="ko-KR" sz="1200" u="sng" dirty="0">
              <a:solidFill>
                <a:prstClr val="black"/>
              </a:solidFill>
              <a:latin typeface="한화고딕 B" panose="02020503020101020101" pitchFamily="18" charset="-127"/>
              <a:ea typeface="한화고딕 B" panose="02020503020101020101" pitchFamily="18" charset="-127"/>
              <a:sym typeface="Wingdings" panose="05000000000000000000" pitchFamily="2" charset="2"/>
            </a:endParaRPr>
          </a:p>
          <a:p>
            <a:r>
              <a:rPr sz="1200" u="none">
                <a:latin typeface="한화고딕 EL"/>
              </a:rPr>
              <a:t>• 클라우드 기반 OCR 도입을 위해 대상 업무와 성능 요구사항 정의, 자원 산정, 외주 운영 협의를 포함한 추진품의 및 RFP 작성 진행 중임</a:t>
            </a:r>
          </a:p>
          <a:p>
            <a:r>
              <a:rPr sz="1200" u="none">
                <a:latin typeface="한화고딕 EL"/>
              </a:rPr>
              <a:t>• MS Azure OCR 서비스의 정확도와 확장성 한계로 기존 과제 전환보다 신규 과제 적용 중심의 솔루션 및 Azure 혼합사용 방안 검토 중임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52400" y="8665554"/>
            <a:ext cx="6668280" cy="312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200" dirty="0">
                <a:solidFill>
                  <a:prstClr val="black"/>
                </a:solidFill>
                <a:latin typeface="한화고딕 B" panose="02020503020101020101" pitchFamily="18" charset="-127"/>
                <a:ea typeface="한화고딕 B" panose="02020503020101020101" pitchFamily="18" charset="-127"/>
                <a:sym typeface="Wingdings" panose="05000000000000000000" pitchFamily="2" charset="2"/>
              </a:rPr>
              <a:t>HAC</a:t>
            </a:r>
            <a:endParaRPr lang="en-US" altLang="ko-KR" sz="1200" dirty="0">
              <a:solidFill>
                <a:prstClr val="black"/>
              </a:solidFill>
              <a:latin typeface="한화고딕 B" panose="02020503020101020101" pitchFamily="18" charset="-127"/>
              <a:ea typeface="한화고딕 B" panose="02020503020101020101" pitchFamily="18" charset="-127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72</Words>
  <Application>WPS Presentation</Application>
  <PresentationFormat>A4 Paper (210x297 mm)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9" baseType="lpstr">
      <vt:lpstr>Arial</vt:lpstr>
      <vt:lpstr>SimSun</vt:lpstr>
      <vt:lpstr>Wingdings</vt:lpstr>
      <vt:lpstr>한화 R</vt:lpstr>
      <vt:lpstr>맑은 고딕</vt:lpstr>
      <vt:lpstr>???? EL</vt:lpstr>
      <vt:lpstr>OCRA</vt:lpstr>
      <vt:lpstr>한화고딕 L</vt:lpstr>
      <vt:lpstr>한화고딕 R</vt:lpstr>
      <vt:lpstr>Arial</vt:lpstr>
      <vt:lpstr>Times New Roman</vt:lpstr>
      <vt:lpstr>Calibri</vt:lpstr>
      <vt:lpstr>Microsoft YaHei</vt:lpstr>
      <vt:lpstr>Arial Unicode MS</vt:lpstr>
      <vt:lpstr>Calibri Light</vt:lpstr>
      <vt:lpstr>한화고딕 B</vt:lpstr>
      <vt:lpstr>한화고딕 EL</vt:lpstr>
      <vt:lpstr>Office 테마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최수영</dc:creator>
  <cp:lastModifiedBy>2500977</cp:lastModifiedBy>
  <cp:revision>588</cp:revision>
  <cp:lastPrinted>2025-11-27T08:34:00Z</cp:lastPrinted>
  <dcterms:created xsi:type="dcterms:W3CDTF">2025-08-12T04:27:00Z</dcterms:created>
  <dcterms:modified xsi:type="dcterms:W3CDTF">2025-12-24T01:37:13Z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0130DBB558B3497AB641F63590B3E7E0_12</vt:lpwstr>
  </property>
  <property fmtid="{D5CDD505-2E9C-101B-9397-08002B2CF9AE}" pid="3" name="KSOProductBuildVer">
    <vt:lpwstr>1033-12.2.0.23196</vt:lpwstr>
  </property>
</Properties>
</file>