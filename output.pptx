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</p:sldIdLst>
  <p:sldSz cx="6858000" cy="9906000" type="A4"/>
  <p:notesSz cx="6735445" cy="986599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100"/>
    <a:srgbClr val="F7F7F7"/>
    <a:srgbClr val="EFEFEF"/>
    <a:srgbClr val="EF8423"/>
    <a:srgbClr val="6C6A67"/>
    <a:srgbClr val="FBF9F7"/>
    <a:srgbClr val="B6A190"/>
    <a:srgbClr val="FCFBFA"/>
    <a:srgbClr val="F9F7F5"/>
    <a:srgbClr val="F4F0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3311" autoAdjust="0"/>
    <p:restoredTop sz="96318" autoAdjust="0"/>
  </p:normalViewPr>
  <p:slideViewPr>
    <p:cSldViewPr snapToGrid="0">
      <p:cViewPr varScale="1">
        <p:scale>
          <a:sx n="57" d="100"/>
          <a:sy n="57" d="100"/>
        </p:scale>
        <p:origin x="3125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0"/>
            <a:ext cx="6858000" cy="956525"/>
          </a:xfrm>
          <a:prstGeom prst="rect">
            <a:avLst/>
          </a:prstGeom>
          <a:solidFill>
            <a:srgbClr val="F4F0EB"/>
          </a:solidFill>
          <a:ln>
            <a:solidFill>
              <a:srgbClr val="F4F0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49361" y="201639"/>
            <a:ext cx="4196983" cy="767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200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</a:rPr>
              <a:t>AI Weekly Report</a:t>
            </a:r>
            <a:endParaRPr lang="ko-KR" altLang="en-US" sz="3200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52400" y="-194524"/>
            <a:ext cx="1886153" cy="115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112" tIns="45720" rIns="914112" bIns="914112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맑은 고딕" panose="020B0503020000020004" pitchFamily="50" charset="-127"/>
                <a:ea typeface="???? EL"/>
              </a:rPr>
              <a:t> 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51" t="25250" r="21134" b="20882"/>
          <a:stretch>
            <a:fillRect/>
          </a:stretch>
        </p:blipFill>
        <p:spPr bwMode="auto">
          <a:xfrm>
            <a:off x="8165" y="20025"/>
            <a:ext cx="1161044" cy="31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200884" y="46513"/>
            <a:ext cx="19207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100" u="none">
                <a:solidFill>
                  <a:srgbClr val="6C6A67"/>
                </a:solidFill>
                <a:latin typeface="한화고딕 L"/>
              </a:rPr>
              <a:t>제15호 | 2025년 12월 31일</a:t>
            </a:r>
            <a:endParaRPr lang="ko-KR" altLang="en-US" sz="1100" dirty="0">
              <a:solidFill>
                <a:srgbClr val="6C6A67"/>
              </a:solidFill>
              <a:latin typeface="한화고딕 L" panose="02020503020101020101" pitchFamily="18" charset="-127"/>
              <a:ea typeface="한화고딕 L" panose="02020503020101020101" pitchFamily="18" charset="-127"/>
            </a:endParaRPr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74" t="10194" r="-2978"/>
          <a:stretch>
            <a:fillRect/>
          </a:stretch>
        </p:blipFill>
        <p:spPr bwMode="auto">
          <a:xfrm rot="1455314">
            <a:off x="4326398" y="457296"/>
            <a:ext cx="365675" cy="4571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29" t="20606" r="28476" b="8486"/>
          <a:stretch>
            <a:fillRect/>
          </a:stretch>
        </p:blipFill>
        <p:spPr bwMode="auto">
          <a:xfrm rot="461266">
            <a:off x="6197256" y="52682"/>
            <a:ext cx="495329" cy="5341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1" t="15797" r="4687" b="22920"/>
          <a:stretch>
            <a:fillRect/>
          </a:stretch>
        </p:blipFill>
        <p:spPr bwMode="auto">
          <a:xfrm>
            <a:off x="4874017" y="103061"/>
            <a:ext cx="783099" cy="5100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2" t="24030" r="9407" b="3699"/>
          <a:stretch>
            <a:fillRect/>
          </a:stretch>
        </p:blipFill>
        <p:spPr bwMode="auto">
          <a:xfrm>
            <a:off x="5621861" y="389477"/>
            <a:ext cx="581173" cy="567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Google Shape;201;g375bbbb1663_0_21"/>
          <p:cNvSpPr/>
          <p:nvPr/>
        </p:nvSpPr>
        <p:spPr>
          <a:xfrm>
            <a:off x="100674" y="6883799"/>
            <a:ext cx="6668280" cy="143406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Google Shape;202;g375bbbb1663_0_21"/>
          <p:cNvSpPr/>
          <p:nvPr/>
        </p:nvSpPr>
        <p:spPr>
          <a:xfrm>
            <a:off x="100674" y="6634665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AI</a:t>
            </a: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altLang="ko-KR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Lab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2" name="Google Shape;201;g375bbbb1663_0_21"/>
          <p:cNvSpPr/>
          <p:nvPr/>
        </p:nvSpPr>
        <p:spPr>
          <a:xfrm>
            <a:off x="100965" y="8661400"/>
            <a:ext cx="6668135" cy="113855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Google Shape;202;g375bbbb1663_0_21"/>
          <p:cNvSpPr/>
          <p:nvPr/>
        </p:nvSpPr>
        <p:spPr>
          <a:xfrm>
            <a:off x="100674" y="8412157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HAC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3" name="Google Shape;201;g375bbbb1663_0_21"/>
          <p:cNvSpPr/>
          <p:nvPr/>
        </p:nvSpPr>
        <p:spPr>
          <a:xfrm>
            <a:off x="94615" y="1311910"/>
            <a:ext cx="6668135" cy="521144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Google Shape;202;g375bbbb1663_0_21"/>
          <p:cNvSpPr/>
          <p:nvPr/>
        </p:nvSpPr>
        <p:spPr>
          <a:xfrm>
            <a:off x="94860" y="1062852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국내외 </a:t>
            </a:r>
            <a:r>
              <a:rPr lang="en-US" altLang="ko-KR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AI </a:t>
            </a: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동향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1" name="TextBox 2"/>
          <p:cNvSpPr txBox="1"/>
          <p:nvPr/>
        </p:nvSpPr>
        <p:spPr>
          <a:xfrm>
            <a:off x="143510" y="1325589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200" u="none">
                <a:latin typeface="한화고딕 B"/>
              </a:rPr>
              <a:t>생성형 AI CX 글쓰기 시스템·다국어 통역 AI 에이전트·시니어 비즈니스 협력·건강습관 캠페인 동향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  <a:p>
            <a:r>
              <a:rPr sz="1200" u="none">
                <a:latin typeface="한화고딕 EL"/>
              </a:rPr>
              <a:t>• 삼성생명은 CX 글쓰기 가이드를 결합한 생성형 AI CX 글쓰기 시스템을 도입해 고객 안내 문구 초안 작성과 문장 다듬기 자동화를 구현함</a:t>
            </a:r>
          </a:p>
          <a:p>
            <a:r>
              <a:rPr sz="1200" u="none">
                <a:latin typeface="한화고딕 EL"/>
              </a:rPr>
              <a:t>• 해당 시스템은 프롬프트 기반 생성형 AI로 채널별 문장 길이·구성 조정, 용어 순화, 표현·표기 통일 및 맞춤법·오탈자 자동 점검 기능을 제공함</a:t>
            </a:r>
          </a:p>
          <a:p>
            <a:r>
              <a:rPr sz="1200" u="sng">
                <a:latin typeface="한화고딕 B"/>
              </a:rPr>
              <a:t>➔ 당사는 생성형 AI 기반 CX 문구 작성·검수 시스템과 다국어 통역 AI를 도입해 약관 안내, 해피콜, 청구 안내 등 고객 커뮤니케이션 품질과 완전판매 모니터링 효율을 동시에 제고할 수 있음</a:t>
            </a:r>
          </a:p>
          <a:p>
            <a:r>
              <a:rPr sz="900" u="none">
                <a:latin typeface="한화고딕 EL"/>
              </a:rPr>
              <a:t> </a:t>
            </a:r>
          </a:p>
          <a:p>
            <a:r>
              <a:rPr sz="1200" u="none">
                <a:latin typeface="한화고딕 B"/>
              </a:rPr>
              <a:t>우리은행 생성형 AI 기반 비대면 원스톱 대출 상담 서비스 고도화</a:t>
            </a:r>
          </a:p>
          <a:p>
            <a:r>
              <a:rPr sz="1200" u="none">
                <a:latin typeface="한화고딕 EL"/>
              </a:rPr>
              <a:t>• 우리은행이 비대면 전 대출 상품에 적용되는 AI대출상담원을 개편해 상담·상품 요약·가입을 원스톱으로 제공함</a:t>
            </a:r>
          </a:p>
          <a:p>
            <a:r>
              <a:rPr sz="1200" u="none">
                <a:latin typeface="한화고딕 EL"/>
              </a:rPr>
              <a:t>• 생성형 AI가 대출 목적·소득 등 조건을 단계별로 질의하며 과거 상담 이력을 기억해 연속적·개인화 상담을 구현함</a:t>
            </a:r>
          </a:p>
          <a:p>
            <a:r>
              <a:rPr sz="1200" u="sng">
                <a:latin typeface="한화고딕 B"/>
              </a:rPr>
              <a:t>➔ 당사도 생성형 AI 상담원을 도입해 대출·보장 분석을 자동 안내하고 과거 상담 이력을 활용한 맞춤형 언더라이팅 지원 체계 구축 필요함</a:t>
            </a:r>
          </a:p>
          <a:p>
            <a:r>
              <a:rPr sz="900" u="none">
                <a:latin typeface="한화고딕 EL"/>
              </a:rPr>
              <a:t> </a:t>
            </a:r>
          </a:p>
          <a:p>
            <a:r>
              <a:rPr sz="1200" u="none">
                <a:latin typeface="한화고딕 B"/>
              </a:rPr>
              <a:t>IBK기업은행 생성형 AI 기반 여신심사·내부업무 자동화 고도화</a:t>
            </a:r>
          </a:p>
          <a:p>
            <a:r>
              <a:rPr sz="1200" u="none">
                <a:latin typeface="한화고딕 EL"/>
              </a:rPr>
              <a:t>• IBK기업은행이 보증부대출 심사 자동화, 내부 LLM 구축, 콘텐츠 제작·뉴스 요약 등 전사 업무에 생성형 AI를 적용 중임</a:t>
            </a:r>
          </a:p>
          <a:p>
            <a:r>
              <a:rPr sz="1200" u="none">
                <a:latin typeface="한화고딕 EL"/>
              </a:rPr>
              <a:t>• 행내 데이터로 학습한 내부 LLM과 자체 개발 AI 모델, Agentic AI 및 판단형 AI 연구를 통해 업무 목적별 특화 AI 환경을 구축 중임</a:t>
            </a:r>
          </a:p>
          <a:p>
            <a:r>
              <a:rPr sz="1200" u="sng">
                <a:latin typeface="한화고딕 B"/>
              </a:rPr>
              <a:t>➔ 당사는 내부 LLM과 Agentic AI를 활용해 언더라이팅·보상서류 자동 검토 및 상품 추천을 고도화해 심사 정확도와 처리 효율을 제고할 수 있음</a:t>
            </a:r>
          </a:p>
          <a:p>
            <a:r>
              <a:rPr sz="900" u="none">
                <a:latin typeface="한화고딕 EL"/>
              </a:rPr>
              <a:t> </a:t>
            </a:r>
          </a:p>
          <a:p>
            <a:r>
              <a:rPr sz="1200" u="none">
                <a:latin typeface="한화고딕 B"/>
              </a:rPr>
              <a:t>GPT‑5.2-Codex 기반 에이전트형 코딩·사이버 보안 역량 고도화</a:t>
            </a:r>
          </a:p>
          <a:p>
            <a:r>
              <a:rPr sz="1200" u="none">
                <a:latin typeface="한화고딕 EL"/>
              </a:rPr>
              <a:t>• GPT‑5.2-Codex는 장기 컨텍스트 압축, 대규모 리팩터링·마이그레이션, Windows 최적화, 비전 기반 코드 해석을 강화한 에이전트형 코딩 모델임</a:t>
            </a:r>
          </a:p>
          <a:p>
            <a:r>
              <a:rPr sz="1200" u="none">
                <a:latin typeface="한화고딕 EL"/>
              </a:rPr>
              <a:t>• GPT‑5.2-Codex는 GPT‑5.2 기반 장기 컨텍스트 이해, 안정적 도구 호출, 터미널·SWE-Bench Pro 벤치마크 최상위 성능, 사이버 보안 특화 평가 고도화를 통해 개발됨</a:t>
            </a:r>
          </a:p>
          <a:p>
            <a:r>
              <a:rPr sz="1200" u="sng">
                <a:latin typeface="한화고딕 B"/>
              </a:rPr>
              <a:t>➔ 당사는 GPT‑5.2-Codex를 활용해 보험 코어·채널 시스템 코드 취약점 자동 탐지와 보안 패치 지원을 통해 사이버 리스크 관리 역량을 강화할 수 있음</a:t>
            </a:r>
          </a:p>
          <a:p>
            <a:r>
              <a:rPr sz="900" u="none">
                <a:latin typeface="한화고딕 EL"/>
              </a:rPr>
              <a:t> </a:t>
            </a:r>
          </a:p>
        </p:txBody>
      </p:sp>
      <p:sp>
        <p:nvSpPr>
          <p:cNvPr id="14" name="TextBox 2"/>
          <p:cNvSpPr txBox="1"/>
          <p:nvPr/>
        </p:nvSpPr>
        <p:spPr>
          <a:xfrm>
            <a:off x="152400" y="6893904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200" u="none">
                <a:latin typeface="한화고딕 B"/>
              </a:rPr>
              <a:t>클라우드 기반 OCR 도입 및 Azure 혼합사용 검토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  <a:p>
            <a:r>
              <a:rPr sz="1200" u="none">
                <a:latin typeface="한화고딕 EL"/>
              </a:rPr>
              <a:t>• 클라우드 기반 OCR 도입을 위해 대상 업무와 성능 요구사항 정의, 호출량 기반 자원 산정, 외주 운영 협의를 포함한 추진품의 및 RFP 작성 진행 중임</a:t>
            </a:r>
          </a:p>
          <a:p>
            <a:r>
              <a:rPr sz="1200" u="none">
                <a:latin typeface="한화고딕 EL"/>
              </a:rPr>
              <a:t>• MS Azure OCR 정확도와 확장성 한계로 기존 과제 전환보다 신규 과제 적용을 중심으로 비용 최적화 관점의 솔루션·Azure 혼합사용 방안 검토 중임</a:t>
            </a:r>
          </a:p>
        </p:txBody>
      </p:sp>
      <p:sp>
        <p:nvSpPr>
          <p:cNvPr id="15" name="TextBox 2"/>
          <p:cNvSpPr txBox="1"/>
          <p:nvPr/>
        </p:nvSpPr>
        <p:spPr>
          <a:xfrm>
            <a:off x="152400" y="8665554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ko-KR" sz="1200" dirty="0">
                <a:solidFill>
                  <a:prstClr val="black"/>
                </a:solidFill>
                <a:latin typeface="한화고딕 B" panose="02020503020101020101" pitchFamily="18" charset="-127"/>
                <a:ea typeface="한화고딕 B" panose="02020503020101020101" pitchFamily="18" charset="-127"/>
                <a:sym typeface="Wingdings" panose="05000000000000000000" pitchFamily="2" charset="2"/>
              </a:rPr>
              <a:t>HAC</a:t>
            </a:r>
            <a:endParaRPr lang="en-US" altLang="ko-KR" sz="1200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72</Words>
  <Application>WPS Presentation</Application>
  <PresentationFormat>A4 Paper (210x297 mm)</PresentationFormat>
  <Paragraphs>18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9" baseType="lpstr">
      <vt:lpstr>Arial</vt:lpstr>
      <vt:lpstr>SimSun</vt:lpstr>
      <vt:lpstr>Wingdings</vt:lpstr>
      <vt:lpstr>한화 R</vt:lpstr>
      <vt:lpstr>맑은 고딕</vt:lpstr>
      <vt:lpstr>???? EL</vt:lpstr>
      <vt:lpstr>OCRA</vt:lpstr>
      <vt:lpstr>한화고딕 L</vt:lpstr>
      <vt:lpstr>한화고딕 R</vt:lpstr>
      <vt:lpstr>Arial</vt:lpstr>
      <vt:lpstr>Times New Roman</vt:lpstr>
      <vt:lpstr>Calibri</vt:lpstr>
      <vt:lpstr>Microsoft YaHei</vt:lpstr>
      <vt:lpstr>Arial Unicode MS</vt:lpstr>
      <vt:lpstr>Calibri Light</vt:lpstr>
      <vt:lpstr>한화고딕 B</vt:lpstr>
      <vt:lpstr>한화고딕 EL</vt:lpstr>
      <vt:lpstr>Office 테마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최수영</dc:creator>
  <cp:lastModifiedBy>2500977</cp:lastModifiedBy>
  <cp:revision>588</cp:revision>
  <cp:lastPrinted>2025-11-27T08:34:00Z</cp:lastPrinted>
  <dcterms:created xsi:type="dcterms:W3CDTF">2025-08-12T04:27:00Z</dcterms:created>
  <dcterms:modified xsi:type="dcterms:W3CDTF">2025-12-24T01:37:13Z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0130DBB558B3497AB641F63590B3E7E0_12</vt:lpwstr>
  </property>
  <property fmtid="{D5CDD505-2E9C-101B-9397-08002B2CF9AE}" pid="3" name="KSOProductBuildVer">
    <vt:lpwstr>1033-12.2.0.23196</vt:lpwstr>
  </property>
</Properties>
</file>