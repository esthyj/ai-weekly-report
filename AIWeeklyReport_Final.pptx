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</p:sldIdLst>
  <p:sldSz cx="6858000" cy="9906000" type="A4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100"/>
    <a:srgbClr val="F7F7F7"/>
    <a:srgbClr val="EFEFEF"/>
    <a:srgbClr val="EF8423"/>
    <a:srgbClr val="6C6A67"/>
    <a:srgbClr val="FBF9F7"/>
    <a:srgbClr val="B6A190"/>
    <a:srgbClr val="FCFBFA"/>
    <a:srgbClr val="F9F7F5"/>
    <a:srgbClr val="F4F0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3312" autoAdjust="0"/>
    <p:restoredTop sz="96318" autoAdjust="0"/>
  </p:normalViewPr>
  <p:slideViewPr>
    <p:cSldViewPr snapToGrid="0">
      <p:cViewPr varScale="1">
        <p:scale>
          <a:sx n="57" d="100"/>
          <a:sy n="57" d="100"/>
        </p:scale>
        <p:origin x="3125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  <a:t>2025-12-19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3501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  <a:t>2025-12-19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602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  <a:t>2025-12-19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3741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  <a:t>2025-12-19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8180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  <a:t>2025-12-19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3556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  <a:t>2025-12-19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4812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  <a:t>2025-12-19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8770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  <a:t>2025-12-19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31895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  <a:t>2025-12-19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7114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  <a:t>2025-12-19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7347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  <a:t>2025-12-19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68247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C8C4E1-84EF-43CE-9C5D-23647B873D99}" type="datetimeFigureOut">
              <a:rPr lang="ko-KR" altLang="en-US" smtClean="0"/>
              <a:t>2025-12-19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6C684E-E654-464C-8296-B1B70B3841D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8387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1C034-40A9-6784-2864-309C4FB20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E13AF5C-E28C-2862-2FFC-E28B87F6E34D}"/>
              </a:ext>
            </a:extLst>
          </p:cNvPr>
          <p:cNvSpPr/>
          <p:nvPr/>
        </p:nvSpPr>
        <p:spPr>
          <a:xfrm>
            <a:off x="0" y="0"/>
            <a:ext cx="6858000" cy="956525"/>
          </a:xfrm>
          <a:prstGeom prst="rect">
            <a:avLst/>
          </a:prstGeom>
          <a:solidFill>
            <a:srgbClr val="F4F0EB"/>
          </a:solidFill>
          <a:ln>
            <a:solidFill>
              <a:srgbClr val="F4F0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021AEE-C3FE-660C-7B4E-EDA04348E950}"/>
              </a:ext>
            </a:extLst>
          </p:cNvPr>
          <p:cNvSpPr txBox="1"/>
          <p:nvPr/>
        </p:nvSpPr>
        <p:spPr>
          <a:xfrm>
            <a:off x="49361" y="201639"/>
            <a:ext cx="4196983" cy="767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200" dirty="0">
                <a:solidFill>
                  <a:srgbClr val="ED7100"/>
                </a:solidFill>
                <a:latin typeface="한화 R" panose="02020503020101020101" pitchFamily="18" charset="-127"/>
                <a:ea typeface="한화 R" panose="02020503020101020101" pitchFamily="18" charset="-127"/>
              </a:rPr>
              <a:t>AI Weekly Report</a:t>
            </a:r>
            <a:endParaRPr lang="ko-KR" altLang="en-US" sz="3200" dirty="0">
              <a:solidFill>
                <a:srgbClr val="ED7100"/>
              </a:solidFill>
              <a:latin typeface="한화 R" panose="02020503020101020101" pitchFamily="18" charset="-127"/>
              <a:ea typeface="한화 R" panose="02020503020101020101" pitchFamily="18" charset="-127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656B034-FF46-2518-28F0-9A6CF908E9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194524"/>
            <a:ext cx="1886153" cy="115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112" tIns="45720" rIns="914112" bIns="91411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???? EL"/>
              </a:rPr>
              <a:t> 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287E9B61-638F-02DF-B7B4-2F75121CD7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1" t="25250" r="21134" b="20882"/>
          <a:stretch/>
        </p:blipFill>
        <p:spPr bwMode="auto">
          <a:xfrm>
            <a:off x="8165" y="20025"/>
            <a:ext cx="1161044" cy="31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0C64BD0-8AFE-7146-0137-F6A54D5C5DAB}"/>
              </a:ext>
            </a:extLst>
          </p:cNvPr>
          <p:cNvSpPr txBox="1"/>
          <p:nvPr/>
        </p:nvSpPr>
        <p:spPr>
          <a:xfrm>
            <a:off x="1200884" y="46513"/>
            <a:ext cx="19207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rgbClr val="6C6A67"/>
                </a:solidFill>
                <a:latin typeface="한화고딕 L" panose="02020503020101020101" pitchFamily="18" charset="-127"/>
                <a:ea typeface="한화고딕 L" panose="02020503020101020101" pitchFamily="18" charset="-127"/>
              </a:rPr>
              <a:t>제 </a:t>
            </a:r>
            <a:r>
              <a:rPr lang="en-US" altLang="ko-KR" sz="1100" dirty="0">
                <a:solidFill>
                  <a:srgbClr val="6C6A67"/>
                </a:solidFill>
                <a:latin typeface="한화고딕 L" panose="02020503020101020101" pitchFamily="18" charset="-127"/>
                <a:ea typeface="한화고딕 L" panose="02020503020101020101" pitchFamily="18" charset="-127"/>
              </a:rPr>
              <a:t>14</a:t>
            </a:r>
            <a:r>
              <a:rPr lang="ko-KR" altLang="en-US" sz="1100" dirty="0">
                <a:solidFill>
                  <a:srgbClr val="6C6A67"/>
                </a:solidFill>
                <a:latin typeface="한화고딕 L" panose="02020503020101020101" pitchFamily="18" charset="-127"/>
                <a:ea typeface="한화고딕 L" panose="02020503020101020101" pitchFamily="18" charset="-127"/>
              </a:rPr>
              <a:t>호 </a:t>
            </a:r>
            <a:r>
              <a:rPr lang="en-US" altLang="ko-KR" sz="1100" b="1" dirty="0">
                <a:solidFill>
                  <a:srgbClr val="6C6A67"/>
                </a:solidFill>
                <a:latin typeface="한화고딕 R" panose="02020503020101020101" pitchFamily="18" charset="-127"/>
                <a:ea typeface="한화고딕 R" panose="02020503020101020101" pitchFamily="18" charset="-127"/>
              </a:rPr>
              <a:t>|</a:t>
            </a:r>
            <a:r>
              <a:rPr lang="en-US" altLang="ko-KR" sz="1100" dirty="0">
                <a:solidFill>
                  <a:srgbClr val="6C6A67"/>
                </a:solidFill>
                <a:latin typeface="한화고딕 L" panose="02020503020101020101" pitchFamily="18" charset="-127"/>
                <a:ea typeface="한화고딕 L" panose="02020503020101020101" pitchFamily="18" charset="-127"/>
              </a:rPr>
              <a:t> 2025</a:t>
            </a:r>
            <a:r>
              <a:rPr lang="ko-KR" altLang="en-US" sz="1100" dirty="0">
                <a:solidFill>
                  <a:srgbClr val="6C6A67"/>
                </a:solidFill>
                <a:latin typeface="한화고딕 L" panose="02020503020101020101" pitchFamily="18" charset="-127"/>
                <a:ea typeface="한화고딕 L" panose="02020503020101020101" pitchFamily="18" charset="-127"/>
              </a:rPr>
              <a:t>년 </a:t>
            </a:r>
            <a:r>
              <a:rPr lang="en-US" altLang="ko-KR" sz="1100" dirty="0">
                <a:solidFill>
                  <a:srgbClr val="6C6A67"/>
                </a:solidFill>
                <a:latin typeface="한화고딕 L" panose="02020503020101020101" pitchFamily="18" charset="-127"/>
                <a:ea typeface="한화고딕 L" panose="02020503020101020101" pitchFamily="18" charset="-127"/>
              </a:rPr>
              <a:t>12</a:t>
            </a:r>
            <a:r>
              <a:rPr lang="ko-KR" altLang="en-US" sz="1100" dirty="0">
                <a:solidFill>
                  <a:srgbClr val="6C6A67"/>
                </a:solidFill>
                <a:latin typeface="한화고딕 L" panose="02020503020101020101" pitchFamily="18" charset="-127"/>
                <a:ea typeface="한화고딕 L" panose="02020503020101020101" pitchFamily="18" charset="-127"/>
              </a:rPr>
              <a:t>월 </a:t>
            </a:r>
            <a:r>
              <a:rPr lang="en-US" altLang="ko-KR" sz="1100" dirty="0">
                <a:solidFill>
                  <a:srgbClr val="6C6A67"/>
                </a:solidFill>
                <a:latin typeface="한화고딕 L" panose="02020503020101020101" pitchFamily="18" charset="-127"/>
                <a:ea typeface="한화고딕 L" panose="02020503020101020101" pitchFamily="18" charset="-127"/>
              </a:rPr>
              <a:t>19</a:t>
            </a:r>
            <a:r>
              <a:rPr lang="ko-KR" altLang="en-US" sz="1100" dirty="0">
                <a:solidFill>
                  <a:srgbClr val="6C6A67"/>
                </a:solidFill>
                <a:latin typeface="한화고딕 L" panose="02020503020101020101" pitchFamily="18" charset="-127"/>
                <a:ea typeface="한화고딕 L" panose="02020503020101020101" pitchFamily="18" charset="-127"/>
              </a:rPr>
              <a:t>일</a:t>
            </a:r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7D34AFF6-7567-EDB8-8EF0-51996BC4D7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74" t="10194" r="-2978"/>
          <a:stretch/>
        </p:blipFill>
        <p:spPr bwMode="auto">
          <a:xfrm rot="1455314">
            <a:off x="4326398" y="457296"/>
            <a:ext cx="365675" cy="457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20C0AB09-9970-5AF8-5242-37C8F886ED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29" t="20606" r="28476" b="8486"/>
          <a:stretch/>
        </p:blipFill>
        <p:spPr bwMode="auto">
          <a:xfrm rot="461266">
            <a:off x="6197256" y="52682"/>
            <a:ext cx="495329" cy="534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2CE3718A-10E4-85C4-0A08-F162E4DB07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51" t="15797" r="4687" b="22920"/>
          <a:stretch/>
        </p:blipFill>
        <p:spPr bwMode="auto">
          <a:xfrm>
            <a:off x="4874017" y="103061"/>
            <a:ext cx="783099" cy="510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9A00D306-A7B2-DA8B-ED5C-C5F5D99683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02" t="24030" r="9407" b="3699"/>
          <a:stretch/>
        </p:blipFill>
        <p:spPr bwMode="auto">
          <a:xfrm>
            <a:off x="5621861" y="389477"/>
            <a:ext cx="581173" cy="567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Google Shape;201;g375bbbb1663_0_21">
            <a:extLst>
              <a:ext uri="{FF2B5EF4-FFF2-40B4-BE49-F238E27FC236}">
                <a16:creationId xmlns:a16="http://schemas.microsoft.com/office/drawing/2014/main" id="{BCB467FE-66C2-0B08-57F6-B25507828A79}"/>
              </a:ext>
            </a:extLst>
          </p:cNvPr>
          <p:cNvSpPr/>
          <p:nvPr/>
        </p:nvSpPr>
        <p:spPr>
          <a:xfrm>
            <a:off x="100674" y="5923679"/>
            <a:ext cx="6668280" cy="143406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cap="flat" cmpd="sng">
            <a:solidFill>
              <a:srgbClr val="EFEFE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AI Lab Content</a:t>
            </a:r>
            <a:endParaRPr sz="1800" b="0" i="0" u="none" strike="noStrike" cap="none" dirty="0">
              <a:solidFill>
                <a:schemeClr val="bg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202;g375bbbb1663_0_21">
            <a:extLst>
              <a:ext uri="{FF2B5EF4-FFF2-40B4-BE49-F238E27FC236}">
                <a16:creationId xmlns:a16="http://schemas.microsoft.com/office/drawing/2014/main" id="{38C3295B-B6DF-6BEB-D827-C87188B68276}"/>
              </a:ext>
            </a:extLst>
          </p:cNvPr>
          <p:cNvSpPr/>
          <p:nvPr/>
        </p:nvSpPr>
        <p:spPr>
          <a:xfrm>
            <a:off x="100674" y="5674545"/>
            <a:ext cx="1867451" cy="243157"/>
          </a:xfrm>
          <a:prstGeom prst="round2SameRect">
            <a:avLst>
              <a:gd name="adj1" fmla="val 17990"/>
              <a:gd name="adj2" fmla="val 0"/>
            </a:avLst>
          </a:prstGeom>
          <a:solidFill>
            <a:srgbClr val="EFEFEF"/>
          </a:solidFill>
          <a:ln>
            <a:solidFill>
              <a:srgbClr val="EFEFEF"/>
            </a:solidFill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ED7100"/>
                </a:solidFill>
                <a:latin typeface="한화 R" panose="02020503020101020101" pitchFamily="18" charset="-127"/>
                <a:ea typeface="한화 R" panose="02020503020101020101" pitchFamily="18" charset="-127"/>
                <a:cs typeface="Times New Roman"/>
                <a:sym typeface="Times New Roman"/>
              </a:rPr>
              <a:t>AI</a:t>
            </a:r>
            <a:r>
              <a:rPr lang="ko-KR" altLang="en-US" sz="1400" i="0" u="none" strike="noStrike" cap="none" dirty="0">
                <a:solidFill>
                  <a:srgbClr val="ED7100"/>
                </a:solidFill>
                <a:latin typeface="한화 R" panose="02020503020101020101" pitchFamily="18" charset="-127"/>
                <a:ea typeface="한화 R" panose="02020503020101020101" pitchFamily="18" charset="-127"/>
                <a:cs typeface="Times New Roman"/>
                <a:sym typeface="Times New Roman"/>
              </a:rPr>
              <a:t> </a:t>
            </a:r>
            <a:r>
              <a:rPr lang="en-US" altLang="ko-KR" sz="1400" i="0" u="none" strike="noStrike" cap="none" dirty="0">
                <a:solidFill>
                  <a:srgbClr val="ED7100"/>
                </a:solidFill>
                <a:latin typeface="한화 R" panose="02020503020101020101" pitchFamily="18" charset="-127"/>
                <a:ea typeface="한화 R" panose="02020503020101020101" pitchFamily="18" charset="-127"/>
                <a:cs typeface="Times New Roman"/>
                <a:sym typeface="Times New Roman"/>
              </a:rPr>
              <a:t>Lab</a:t>
            </a:r>
            <a:endParaRPr sz="1600" i="0" u="none" strike="noStrike" cap="none" dirty="0">
              <a:solidFill>
                <a:srgbClr val="ED7100"/>
              </a:solidFill>
              <a:latin typeface="한화 R" panose="02020503020101020101" pitchFamily="18" charset="-127"/>
              <a:ea typeface="한화 R" panose="02020503020101020101" pitchFamily="18" charset="-127"/>
              <a:cs typeface="Times New Roman"/>
              <a:sym typeface="Times New Roman"/>
            </a:endParaRPr>
          </a:p>
        </p:txBody>
      </p:sp>
      <p:sp>
        <p:nvSpPr>
          <p:cNvPr id="12" name="Google Shape;201;g375bbbb1663_0_21">
            <a:extLst>
              <a:ext uri="{FF2B5EF4-FFF2-40B4-BE49-F238E27FC236}">
                <a16:creationId xmlns:a16="http://schemas.microsoft.com/office/drawing/2014/main" id="{7A264C91-FFDE-4745-4C70-57C928DE8D8C}"/>
              </a:ext>
            </a:extLst>
          </p:cNvPr>
          <p:cNvSpPr/>
          <p:nvPr/>
        </p:nvSpPr>
        <p:spPr>
          <a:xfrm>
            <a:off x="100674" y="7701171"/>
            <a:ext cx="6668280" cy="208967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cap="flat" cmpd="sng">
            <a:solidFill>
              <a:srgbClr val="EFEFE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bg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HAC Content</a:t>
            </a:r>
            <a:endParaRPr sz="1800" b="0" i="0" u="none" strike="noStrike" cap="none" dirty="0">
              <a:solidFill>
                <a:schemeClr val="bg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202;g375bbbb1663_0_21">
            <a:extLst>
              <a:ext uri="{FF2B5EF4-FFF2-40B4-BE49-F238E27FC236}">
                <a16:creationId xmlns:a16="http://schemas.microsoft.com/office/drawing/2014/main" id="{B37C59C6-E9FC-13B9-6EF2-AAE455C3A79F}"/>
              </a:ext>
            </a:extLst>
          </p:cNvPr>
          <p:cNvSpPr/>
          <p:nvPr/>
        </p:nvSpPr>
        <p:spPr>
          <a:xfrm>
            <a:off x="100674" y="7452037"/>
            <a:ext cx="1867451" cy="243157"/>
          </a:xfrm>
          <a:prstGeom prst="round2SameRect">
            <a:avLst>
              <a:gd name="adj1" fmla="val 17990"/>
              <a:gd name="adj2" fmla="val 0"/>
            </a:avLst>
          </a:prstGeom>
          <a:solidFill>
            <a:srgbClr val="EFEFEF"/>
          </a:solidFill>
          <a:ln>
            <a:solidFill>
              <a:srgbClr val="EFEFEF"/>
            </a:solidFill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ED7100"/>
                </a:solidFill>
                <a:latin typeface="한화 R" panose="02020503020101020101" pitchFamily="18" charset="-127"/>
                <a:ea typeface="한화 R" panose="02020503020101020101" pitchFamily="18" charset="-127"/>
                <a:cs typeface="Times New Roman"/>
                <a:sym typeface="Times New Roman"/>
              </a:rPr>
              <a:t>HAC</a:t>
            </a:r>
            <a:endParaRPr sz="1600" i="0" u="none" strike="noStrike" cap="none" dirty="0">
              <a:solidFill>
                <a:srgbClr val="ED7100"/>
              </a:solidFill>
              <a:latin typeface="한화 R" panose="02020503020101020101" pitchFamily="18" charset="-127"/>
              <a:ea typeface="한화 R" panose="02020503020101020101" pitchFamily="18" charset="-127"/>
              <a:cs typeface="Times New Roman"/>
              <a:sym typeface="Times New Roman"/>
            </a:endParaRPr>
          </a:p>
        </p:txBody>
      </p:sp>
      <p:sp>
        <p:nvSpPr>
          <p:cNvPr id="3" name="Google Shape;201;g375bbbb1663_0_21">
            <a:extLst>
              <a:ext uri="{FF2B5EF4-FFF2-40B4-BE49-F238E27FC236}">
                <a16:creationId xmlns:a16="http://schemas.microsoft.com/office/drawing/2014/main" id="{B1568F9D-0985-14DB-AA73-C8363D1417F6}"/>
              </a:ext>
            </a:extLst>
          </p:cNvPr>
          <p:cNvSpPr/>
          <p:nvPr/>
        </p:nvSpPr>
        <p:spPr>
          <a:xfrm>
            <a:off x="94860" y="1311985"/>
            <a:ext cx="6668280" cy="427269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cap="flat" cmpd="sng">
            <a:solidFill>
              <a:srgbClr val="EFEFE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bg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defRPr b="1" sz="1200"/>
            </a:pPr>
            <a:r>
              <a:t>이노룰스 "AI 기술보다 전문성 먼저"...보험 AX 세미나 성료 - 지디넷코리아</a:t>
            </a:r>
          </a:p>
          <a:p>
            <a:pPr>
              <a:defRPr b="0" sz="1200"/>
            </a:pPr>
            <a:r>
              <a:t>▶ - 보험사는 이노룰스가 제시한 AI 에이전트 및 요율산출 자동화 방식과 유사한 ML·RAG·LLM 기반 하이브리드 모델을 도입해 언더라이팅 및 상품 개발 프로세스를 자동화·표준화함으로써 인수 심사 정확도 향상과 상품 출시 기간 단축을 동시에 달성할 수 있다.</a:t>
            </a:r>
          </a:p>
          <a:p/>
          <a:p>
            <a:pPr>
              <a:defRPr b="1" sz="1200"/>
            </a:pPr>
            <a:r>
              <a:t>보험연수원, AI 자회사 정관 개정안 이사회 통과 - 프라임경제</a:t>
            </a:r>
          </a:p>
          <a:p>
            <a:pPr>
              <a:defRPr b="0" sz="1200"/>
            </a:pPr>
            <a:r>
              <a:t>▶ - 보험사는 보험연수원의 학습 AI 솔루션을 도입해 설계사·언더라이터·보상조사員 대상의 상품·규제·리스크 관련 교육을 자동화·개인화함으로써 교육 비용을 절감하고 현장 인력의 전문성을 체계적으로 강화할 수 있다.</a:t>
            </a:r>
          </a:p>
          <a:p/>
          <a:p>
            <a:pPr>
              <a:defRPr b="1" sz="1200"/>
            </a:pPr>
            <a:r>
              <a:t>다시 커지는 AI 거품론…"신용부도 보험 상품 판매 증가" - 연합뉴스</a:t>
            </a:r>
          </a:p>
          <a:p>
            <a:pPr>
              <a:defRPr b="0" sz="1200"/>
            </a:pPr>
            <a:r>
              <a:t>▶ - 보험사는 빅테크·AI 인프라 기업에 대한 CDS 스프레드와 채권시장 데이터를 리스크 인디케이터로 활용해 테크 섹터 기업보증보험·신용보험 인수 기준을 동적으로 조정하고, AI 인프라 투자 사이클에 연동된 특약형 신용위험 보장 상품을 설계할 수 있다.</a:t>
            </a:r>
          </a:p>
          <a:p/>
        </p:txBody>
      </p:sp>
      <p:sp>
        <p:nvSpPr>
          <p:cNvPr id="10" name="Google Shape;202;g375bbbb1663_0_21">
            <a:extLst>
              <a:ext uri="{FF2B5EF4-FFF2-40B4-BE49-F238E27FC236}">
                <a16:creationId xmlns:a16="http://schemas.microsoft.com/office/drawing/2014/main" id="{9EFA09A2-CFE5-7E3C-F965-209FAAF62CAE}"/>
              </a:ext>
            </a:extLst>
          </p:cNvPr>
          <p:cNvSpPr/>
          <p:nvPr/>
        </p:nvSpPr>
        <p:spPr>
          <a:xfrm>
            <a:off x="94860" y="1062852"/>
            <a:ext cx="1867451" cy="243157"/>
          </a:xfrm>
          <a:prstGeom prst="round2SameRect">
            <a:avLst>
              <a:gd name="adj1" fmla="val 17990"/>
              <a:gd name="adj2" fmla="val 0"/>
            </a:avLst>
          </a:prstGeom>
          <a:solidFill>
            <a:srgbClr val="EFEFEF"/>
          </a:solidFill>
          <a:ln>
            <a:solidFill>
              <a:srgbClr val="EFEFEF"/>
            </a:solidFill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altLang="en-US" sz="1400" i="0" u="none" strike="noStrike" cap="none" dirty="0">
                <a:solidFill>
                  <a:srgbClr val="ED7100"/>
                </a:solidFill>
                <a:latin typeface="한화 R" panose="02020503020101020101" pitchFamily="18" charset="-127"/>
                <a:ea typeface="한화 R" panose="02020503020101020101" pitchFamily="18" charset="-127"/>
                <a:cs typeface="Times New Roman"/>
                <a:sym typeface="Times New Roman"/>
              </a:rPr>
              <a:t>국내외 </a:t>
            </a:r>
            <a:r>
              <a:rPr lang="en-US" altLang="ko-KR" sz="1400" i="0" u="none" strike="noStrike" cap="none" dirty="0">
                <a:solidFill>
                  <a:srgbClr val="ED7100"/>
                </a:solidFill>
                <a:latin typeface="한화 R" panose="02020503020101020101" pitchFamily="18" charset="-127"/>
                <a:ea typeface="한화 R" panose="02020503020101020101" pitchFamily="18" charset="-127"/>
                <a:cs typeface="Times New Roman"/>
                <a:sym typeface="Times New Roman"/>
              </a:rPr>
              <a:t>AI </a:t>
            </a:r>
            <a:r>
              <a:rPr lang="ko-KR" altLang="en-US" sz="1400" i="0" u="none" strike="noStrike" cap="none" dirty="0">
                <a:solidFill>
                  <a:srgbClr val="ED7100"/>
                </a:solidFill>
                <a:latin typeface="한화 R" panose="02020503020101020101" pitchFamily="18" charset="-127"/>
                <a:ea typeface="한화 R" panose="02020503020101020101" pitchFamily="18" charset="-127"/>
                <a:cs typeface="Times New Roman"/>
                <a:sym typeface="Times New Roman"/>
              </a:rPr>
              <a:t>동향</a:t>
            </a:r>
            <a:endParaRPr sz="1600" i="0" u="none" strike="noStrike" cap="none" dirty="0">
              <a:solidFill>
                <a:srgbClr val="ED7100"/>
              </a:solidFill>
              <a:latin typeface="한화 R" panose="02020503020101020101" pitchFamily="18" charset="-127"/>
              <a:ea typeface="한화 R" panose="02020503020101020101" pitchFamily="18" charset="-127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16082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8411</TotalTime>
  <Words>27</Words>
  <Application>Microsoft Office PowerPoint</Application>
  <PresentationFormat>A4 Paper (210x297 mm)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맑은 고딕</vt:lpstr>
      <vt:lpstr>한화 R</vt:lpstr>
      <vt:lpstr>한화고딕 L</vt:lpstr>
      <vt:lpstr>한화고딕 R</vt:lpstr>
      <vt:lpstr>Arial</vt:lpstr>
      <vt:lpstr>Calibri</vt:lpstr>
      <vt:lpstr>Calibri Light</vt:lpstr>
      <vt:lpstr>Office 테마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최수영</dc:creator>
  <cp:lastModifiedBy>전예은</cp:lastModifiedBy>
  <cp:revision>587</cp:revision>
  <cp:lastPrinted>2025-11-27T08:34:25Z</cp:lastPrinted>
  <dcterms:created xsi:type="dcterms:W3CDTF">2025-08-12T04:27:20Z</dcterms:created>
  <dcterms:modified xsi:type="dcterms:W3CDTF">2025-12-19T08:12:54Z</dcterms:modified>
</cp:coreProperties>
</file>